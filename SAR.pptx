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sldIdLst>
    <p:sldId id="291" r:id="rId5"/>
    <p:sldId id="281" r:id="rId6"/>
    <p:sldId id="290" r:id="rId7"/>
    <p:sldId id="293" r:id="rId8"/>
    <p:sldId id="294" r:id="rId9"/>
    <p:sldId id="296" r:id="rId10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A850D2-B448-C061-8910-9A88359FC8C7}" v="220" dt="2024-09-11T11:54:41.928"/>
    <p1510:client id="{41683F20-48EE-4D6A-84BD-32E8B517B44C}" v="21" dt="2024-09-11T12:05:05.762"/>
    <p1510:client id="{6FADA85A-1942-4D8B-DFA8-5C3A1F09DF98}" v="4" dt="2024-09-11T11:58:51.8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24-Dec-25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24-Dec-25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24-Dec-25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24-Dec-25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24-Dec-25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24-Dec-25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60163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2024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3900" y="1477404"/>
            <a:ext cx="5924550" cy="47769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SIH1733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/>
                <a:ea typeface="ＭＳ Ｐゴシック"/>
                <a:cs typeface="Arial"/>
              </a:rPr>
              <a:t>Problem Statement Title- </a:t>
            </a:r>
            <a:r>
              <a:rPr lang="en-US" dirty="0">
                <a:latin typeface="Arial"/>
                <a:ea typeface="ＭＳ Ｐゴシック"/>
                <a:cs typeface="Arial"/>
              </a:rPr>
              <a:t>SAR Image Colorization for Comprehensive Insight using Deep Learning Model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/>
                <a:cs typeface="Arial"/>
              </a:rPr>
              <a:t>Team ID- </a:t>
            </a:r>
            <a:r>
              <a:rPr lang="en-US" sz="2000" dirty="0">
                <a:latin typeface="Arial"/>
                <a:cs typeface="Arial"/>
              </a:rPr>
              <a:t>2055</a:t>
            </a:r>
            <a:endParaRPr lang="en-US" dirty="0">
              <a:latin typeface="Arial"/>
              <a:ea typeface="ＭＳ Ｐゴシック"/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Space Technology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6Tensors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A5EC0D1-9BCA-3E22-9663-B9293359A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1291" y="3908323"/>
            <a:ext cx="8534400" cy="1752600"/>
          </a:xfrm>
        </p:spPr>
        <p:txBody>
          <a:bodyPr/>
          <a:lstStyle/>
          <a:p>
            <a:r>
              <a:rPr lang="en-IN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20674" y="19664"/>
            <a:ext cx="11065105" cy="1553497"/>
          </a:xfrm>
        </p:spPr>
        <p:txBody>
          <a:bodyPr/>
          <a:lstStyle/>
          <a:p>
            <a:pPr eaLnBrk="1" hangingPunct="1"/>
            <a:br>
              <a:rPr lang="en-US" sz="20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2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SARChroma- Unveiling Insights through SAR Image Colorization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" y="1463033"/>
            <a:ext cx="9802090" cy="6401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Proposed Solution</a:t>
            </a:r>
          </a:p>
          <a:p>
            <a:endParaRPr lang="en-US" sz="2400" b="1" u="sng">
              <a:solidFill>
                <a:schemeClr val="tx2"/>
              </a:solidFill>
              <a:latin typeface="Arial" panose="020B0604020202020204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>
                <a:latin typeface="Calibri"/>
                <a:ea typeface="ＭＳ Ｐゴシック"/>
                <a:cs typeface="Calibri"/>
              </a:rPr>
              <a:t>SAR Images</a:t>
            </a:r>
            <a:r>
              <a:rPr lang="en-US" sz="2200">
                <a:latin typeface="Calibri"/>
                <a:ea typeface="ＭＳ Ｐゴシック"/>
                <a:cs typeface="Calibri"/>
              </a:rPr>
              <a:t>: They are rich in </a:t>
            </a:r>
            <a:r>
              <a:rPr lang="en-US" sz="2200" b="1">
                <a:latin typeface="Calibri"/>
                <a:ea typeface="ＭＳ Ｐゴシック"/>
                <a:cs typeface="Calibri"/>
              </a:rPr>
              <a:t>structural and textural </a:t>
            </a:r>
            <a:r>
              <a:rPr lang="en-US" sz="2200">
                <a:latin typeface="Calibri"/>
                <a:ea typeface="ＭＳ Ｐゴシック"/>
                <a:cs typeface="Calibri"/>
              </a:rPr>
              <a:t>details but </a:t>
            </a:r>
            <a:r>
              <a:rPr lang="en-US" sz="2200" b="1">
                <a:latin typeface="Calibri"/>
                <a:ea typeface="ＭＳ Ｐゴシック"/>
                <a:cs typeface="Calibri"/>
              </a:rPr>
              <a:t>lack color</a:t>
            </a:r>
            <a:r>
              <a:rPr lang="en-US" sz="2200">
                <a:latin typeface="Calibri"/>
                <a:ea typeface="ＭＳ Ｐゴシック"/>
                <a:cs typeface="Calibri"/>
              </a:rPr>
              <a:t>, making interpretation challenging for </a:t>
            </a:r>
            <a:r>
              <a:rPr lang="en-US" sz="2200" b="1">
                <a:latin typeface="Calibri"/>
                <a:ea typeface="ＭＳ Ｐゴシック"/>
                <a:cs typeface="Calibri"/>
              </a:rPr>
              <a:t>geological studies</a:t>
            </a:r>
            <a:r>
              <a:rPr lang="en-US" sz="2200">
                <a:latin typeface="Calibri"/>
                <a:ea typeface="ＭＳ Ｐゴシック"/>
                <a:cs typeface="Calibri"/>
              </a:rPr>
              <a:t> and </a:t>
            </a:r>
            <a:r>
              <a:rPr lang="en-US" sz="2200" b="1">
                <a:latin typeface="Calibri"/>
                <a:ea typeface="ＭＳ Ｐゴシック"/>
                <a:cs typeface="Calibri"/>
              </a:rPr>
              <a:t>environmental monitoring</a:t>
            </a:r>
            <a:r>
              <a:rPr lang="en-US" sz="2200">
                <a:latin typeface="Calibri"/>
                <a:ea typeface="ＭＳ Ｐゴシック"/>
                <a:cs typeface="Calibri"/>
              </a:rPr>
              <a:t>.</a:t>
            </a:r>
          </a:p>
          <a:p>
            <a:endParaRPr lang="en-US" sz="2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>
                <a:latin typeface="Calibri"/>
                <a:ea typeface="ＭＳ Ｐゴシック"/>
                <a:cs typeface="Calibri"/>
              </a:rPr>
              <a:t>Proposed Solution</a:t>
            </a:r>
            <a:r>
              <a:rPr lang="en-US" sz="2200">
                <a:latin typeface="Calibri"/>
                <a:ea typeface="ＭＳ Ｐゴシック"/>
                <a:cs typeface="Calibri"/>
              </a:rPr>
              <a:t>: </a:t>
            </a:r>
            <a:r>
              <a:rPr lang="en-US" sz="2200" b="1">
                <a:latin typeface="Calibri"/>
                <a:ea typeface="ＭＳ Ｐゴシック"/>
                <a:cs typeface="Calibri"/>
              </a:rPr>
              <a:t>MC-GAN (Mask-Conditioned Generative Adversarial Network)</a:t>
            </a:r>
            <a:r>
              <a:rPr lang="en-US" sz="2200">
                <a:latin typeface="Calibri"/>
                <a:ea typeface="ＭＳ Ｐゴシック"/>
                <a:cs typeface="Calibri"/>
              </a:rPr>
              <a:t>, an advanced </a:t>
            </a:r>
            <a:r>
              <a:rPr lang="en-US" sz="2200" b="1">
                <a:latin typeface="Calibri"/>
                <a:ea typeface="ＭＳ Ｐゴシック"/>
                <a:cs typeface="Calibri"/>
              </a:rPr>
              <a:t>deep learning model </a:t>
            </a:r>
            <a:r>
              <a:rPr lang="en-US" sz="2200">
                <a:latin typeface="Calibri"/>
                <a:ea typeface="ＭＳ Ｐゴシック"/>
                <a:cs typeface="Calibri"/>
              </a:rPr>
              <a:t>is designed to </a:t>
            </a:r>
            <a:r>
              <a:rPr lang="en-US" sz="2200" b="1">
                <a:latin typeface="Calibri"/>
                <a:ea typeface="ＭＳ Ｐゴシック"/>
                <a:cs typeface="Calibri"/>
              </a:rPr>
              <a:t>colorize SAR images</a:t>
            </a:r>
            <a:r>
              <a:rPr lang="en-US" sz="2200">
                <a:latin typeface="Calibri"/>
                <a:ea typeface="ＭＳ Ｐゴシック"/>
                <a:cs typeface="Calibri"/>
              </a:rPr>
              <a:t>.</a:t>
            </a:r>
          </a:p>
          <a:p>
            <a:endParaRPr lang="en-US" sz="2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>
                <a:latin typeface="Calibri"/>
                <a:ea typeface="ＭＳ Ｐゴシック"/>
                <a:cs typeface="Calibri"/>
              </a:rPr>
              <a:t>Mask Vector</a:t>
            </a:r>
            <a:r>
              <a:rPr lang="en-US" sz="2200">
                <a:latin typeface="Calibri"/>
                <a:ea typeface="ＭＳ Ｐゴシック"/>
                <a:cs typeface="Calibri"/>
              </a:rPr>
              <a:t>: MC-GAN incorporates </a:t>
            </a:r>
            <a:r>
              <a:rPr lang="en-US" sz="2200" b="1">
                <a:latin typeface="Calibri"/>
                <a:ea typeface="ＭＳ Ｐゴシック"/>
                <a:cs typeface="Calibri"/>
              </a:rPr>
              <a:t>a mask vector </a:t>
            </a:r>
            <a:r>
              <a:rPr lang="en-US" sz="2200">
                <a:latin typeface="Calibri"/>
                <a:ea typeface="ＭＳ Ｐゴシック"/>
                <a:cs typeface="Calibri"/>
              </a:rPr>
              <a:t>to enhance the interpretability of SAR data by integrating </a:t>
            </a:r>
            <a:r>
              <a:rPr lang="en-US" sz="2200" b="1">
                <a:latin typeface="Calibri"/>
                <a:ea typeface="ＭＳ Ｐゴシック"/>
                <a:cs typeface="Calibri"/>
              </a:rPr>
              <a:t>distinctive color information</a:t>
            </a:r>
            <a:r>
              <a:rPr lang="en-US" sz="2200">
                <a:latin typeface="Calibri"/>
                <a:ea typeface="ＭＳ Ｐゴシック"/>
                <a:cs typeface="Calibri"/>
              </a:rPr>
              <a:t> from multiple regions.</a:t>
            </a:r>
          </a:p>
          <a:p>
            <a:endParaRPr lang="en-US" sz="220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>
                <a:latin typeface="Calibri"/>
                <a:ea typeface="ＭＳ Ｐゴシック"/>
                <a:cs typeface="Calibri"/>
              </a:rPr>
              <a:t>Learning from Unpaired Datasets</a:t>
            </a:r>
            <a:r>
              <a:rPr lang="en-US" sz="2200">
                <a:latin typeface="Calibri"/>
                <a:ea typeface="ＭＳ Ｐゴシック"/>
                <a:cs typeface="Calibri"/>
              </a:rPr>
              <a:t>: Unlike existing models, MC-GAN can learn from </a:t>
            </a:r>
            <a:r>
              <a:rPr lang="en-US" sz="2200" b="1">
                <a:latin typeface="Calibri"/>
                <a:ea typeface="ＭＳ Ｐゴシック"/>
                <a:cs typeface="Calibri"/>
              </a:rPr>
              <a:t>unpaired datasets</a:t>
            </a:r>
            <a:r>
              <a:rPr lang="en-US" sz="2200">
                <a:latin typeface="Calibri"/>
                <a:ea typeface="ＭＳ Ｐゴシック"/>
                <a:cs typeface="Calibri"/>
              </a:rPr>
              <a:t>, making it </a:t>
            </a:r>
            <a:r>
              <a:rPr lang="en-US" sz="2200" b="1">
                <a:latin typeface="Calibri"/>
                <a:ea typeface="ＭＳ Ｐゴシック"/>
                <a:cs typeface="Calibri"/>
              </a:rPr>
              <a:t>more flexible and effective</a:t>
            </a:r>
            <a:r>
              <a:rPr lang="en-US" sz="2200">
                <a:latin typeface="Calibri"/>
                <a:ea typeface="ＭＳ Ｐゴシック"/>
                <a:cs typeface="Calibri"/>
              </a:rPr>
              <a:t> in various scenarios.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u="sng">
              <a:solidFill>
                <a:schemeClr val="tx2"/>
              </a:solidFill>
              <a:latin typeface="Arial" panose="020B0604020202020204" pitchFamily="34" charset="0"/>
              <a:cs typeface="Arial" pitchFamily="34" charset="0"/>
            </a:endParaRPr>
          </a:p>
          <a:p>
            <a:endParaRPr lang="en-US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4003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6Tensors</a:t>
            </a:r>
            <a:endParaRPr lang="en-IN"/>
          </a:p>
        </p:txBody>
      </p:sp>
      <p:pic>
        <p:nvPicPr>
          <p:cNvPr id="11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close up of a fabric&#10;&#10;Description automatically generated">
            <a:extLst>
              <a:ext uri="{FF2B5EF4-FFF2-40B4-BE49-F238E27FC236}">
                <a16:creationId xmlns:a16="http://schemas.microsoft.com/office/drawing/2014/main" id="{A02D94FF-F4CA-6006-A593-BFF9D7F12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8990" y="1501919"/>
            <a:ext cx="1895475" cy="1914525"/>
          </a:xfrm>
          <a:prstGeom prst="rect">
            <a:avLst/>
          </a:prstGeom>
        </p:spPr>
      </p:pic>
      <p:sp>
        <p:nvSpPr>
          <p:cNvPr id="3" name="TextBox 12">
            <a:extLst>
              <a:ext uri="{FF2B5EF4-FFF2-40B4-BE49-F238E27FC236}">
                <a16:creationId xmlns:a16="http://schemas.microsoft.com/office/drawing/2014/main" id="{74A66B95-4418-F6CD-23CD-B0B9F649FC09}"/>
              </a:ext>
            </a:extLst>
          </p:cNvPr>
          <p:cNvSpPr txBox="1"/>
          <p:nvPr/>
        </p:nvSpPr>
        <p:spPr>
          <a:xfrm>
            <a:off x="10273756" y="3423309"/>
            <a:ext cx="16813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algn="ctr"/>
            <a:r>
              <a:rPr lang="en-US" sz="1200"/>
              <a:t>SAR Image</a:t>
            </a:r>
            <a:endParaRPr lang="en-IN" sz="1200"/>
          </a:p>
        </p:txBody>
      </p:sp>
      <p:pic>
        <p:nvPicPr>
          <p:cNvPr id="4" name="Picture 3" descr="An aerial view of a city&#10;&#10;Description automatically generated">
            <a:extLst>
              <a:ext uri="{FF2B5EF4-FFF2-40B4-BE49-F238E27FC236}">
                <a16:creationId xmlns:a16="http://schemas.microsoft.com/office/drawing/2014/main" id="{F70486B6-CC13-B3FE-541F-462515A897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6248" y="4030374"/>
            <a:ext cx="1924050" cy="1914525"/>
          </a:xfrm>
          <a:prstGeom prst="rect">
            <a:avLst/>
          </a:prstGeom>
        </p:spPr>
      </p:pic>
      <p:sp>
        <p:nvSpPr>
          <p:cNvPr id="5" name="TextBox 15">
            <a:extLst>
              <a:ext uri="{FF2B5EF4-FFF2-40B4-BE49-F238E27FC236}">
                <a16:creationId xmlns:a16="http://schemas.microsoft.com/office/drawing/2014/main" id="{95DB4F6F-5709-C17E-ECE5-29C43D153FBD}"/>
              </a:ext>
            </a:extLst>
          </p:cNvPr>
          <p:cNvSpPr txBox="1"/>
          <p:nvPr/>
        </p:nvSpPr>
        <p:spPr>
          <a:xfrm>
            <a:off x="10272556" y="5950747"/>
            <a:ext cx="1765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algn="ctr"/>
            <a:r>
              <a:rPr lang="en-US" sz="1200"/>
              <a:t>Colored representation</a:t>
            </a:r>
            <a:endParaRPr lang="en-IN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050" y="6354135"/>
            <a:ext cx="12211050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255443"/>
            <a:ext cx="10972800" cy="1143000"/>
          </a:xfrm>
        </p:spPr>
        <p:txBody>
          <a:bodyPr/>
          <a:lstStyle/>
          <a:p>
            <a:pPr algn="just"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         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249432" y="6390539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76273"/>
            <a:ext cx="143020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6Tensors</a:t>
            </a:r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A85F87-B42B-9C7B-3C5B-D865FCD44224}"/>
              </a:ext>
            </a:extLst>
          </p:cNvPr>
          <p:cNvSpPr txBox="1"/>
          <p:nvPr/>
        </p:nvSpPr>
        <p:spPr>
          <a:xfrm>
            <a:off x="4609730" y="697736"/>
            <a:ext cx="295349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b="1" u="sng"/>
          </a:p>
          <a:p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488CE5-F0D1-A78E-217D-8984A16CED31}"/>
              </a:ext>
            </a:extLst>
          </p:cNvPr>
          <p:cNvSpPr txBox="1"/>
          <p:nvPr/>
        </p:nvSpPr>
        <p:spPr>
          <a:xfrm>
            <a:off x="-3753" y="1151053"/>
            <a:ext cx="5852916" cy="24622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latin typeface="Calibri"/>
                <a:ea typeface="ＭＳ Ｐゴシック"/>
                <a:cs typeface="Calibri"/>
              </a:rPr>
              <a:t>Tech Stack for Web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/>
                <a:ea typeface="ＭＳ Ｐゴシック"/>
                <a:cs typeface="Calibri"/>
              </a:rPr>
              <a:t>Frontend : </a:t>
            </a:r>
            <a:r>
              <a:rPr lang="en-US" sz="2000" dirty="0">
                <a:latin typeface="Calibri"/>
                <a:ea typeface="ＭＳ Ｐゴシック"/>
                <a:cs typeface="Calibri"/>
              </a:rPr>
              <a:t>React, Tailwind CSS</a:t>
            </a:r>
            <a:r>
              <a:rPr lang="en-US" sz="2000" b="1" dirty="0">
                <a:latin typeface="Calibri"/>
                <a:ea typeface="ＭＳ Ｐゴシック"/>
                <a:cs typeface="Calibri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/>
                <a:ea typeface="ＭＳ Ｐゴシック"/>
                <a:cs typeface="Calibri"/>
              </a:rPr>
              <a:t>Backend : </a:t>
            </a:r>
            <a:r>
              <a:rPr lang="en-US" sz="2000" dirty="0">
                <a:latin typeface="Calibri"/>
                <a:ea typeface="ＭＳ Ｐゴシック"/>
                <a:cs typeface="Calibri"/>
              </a:rPr>
              <a:t>Flask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TensorFlow </a:t>
            </a:r>
            <a:r>
              <a:rPr lang="en-US" sz="2000" dirty="0"/>
              <a:t>and </a:t>
            </a:r>
            <a:r>
              <a:rPr lang="en-US" sz="2000" b="1" dirty="0" err="1"/>
              <a:t>Keras</a:t>
            </a:r>
            <a:r>
              <a:rPr lang="en-US" sz="2000" dirty="0"/>
              <a:t> libraries for model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OpenCV</a:t>
            </a:r>
            <a:r>
              <a:rPr lang="en-US" sz="2000" dirty="0"/>
              <a:t> for image processing</a:t>
            </a:r>
          </a:p>
          <a:p>
            <a:endParaRPr lang="en-US" b="1" dirty="0"/>
          </a:p>
          <a:p>
            <a:endParaRPr lang="en-US" b="1" dirty="0"/>
          </a:p>
          <a:p>
            <a:endParaRPr lang="en-IN" dirty="0"/>
          </a:p>
        </p:txBody>
      </p:sp>
      <p:pic>
        <p:nvPicPr>
          <p:cNvPr id="14" name="Picture 13" descr="A diagram of a mask&#10;&#10;Description automatically generated">
            <a:extLst>
              <a:ext uri="{FF2B5EF4-FFF2-40B4-BE49-F238E27FC236}">
                <a16:creationId xmlns:a16="http://schemas.microsoft.com/office/drawing/2014/main" id="{8280C97E-3819-1C76-05B9-4898C72C1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399" y="894190"/>
            <a:ext cx="4880257" cy="2650259"/>
          </a:xfrm>
          <a:prstGeom prst="rect">
            <a:avLst/>
          </a:prstGeom>
        </p:spPr>
      </p:pic>
      <p:pic>
        <p:nvPicPr>
          <p:cNvPr id="17" name="Picture 16" descr="A diagram of several blocks&#10;&#10;Description automatically generated">
            <a:extLst>
              <a:ext uri="{FF2B5EF4-FFF2-40B4-BE49-F238E27FC236}">
                <a16:creationId xmlns:a16="http://schemas.microsoft.com/office/drawing/2014/main" id="{AC5AAD3C-915B-817F-1280-115650DA36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8502" y="4029411"/>
            <a:ext cx="4742473" cy="2085397"/>
          </a:xfrm>
          <a:prstGeom prst="rect">
            <a:avLst/>
          </a:prstGeom>
        </p:spPr>
      </p:pic>
      <p:pic>
        <p:nvPicPr>
          <p:cNvPr id="8" name="Google Shape;93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92366" y="557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049F646-FF36-5F87-55D1-1D4E6974A7A6}"/>
              </a:ext>
            </a:extLst>
          </p:cNvPr>
          <p:cNvSpPr txBox="1"/>
          <p:nvPr/>
        </p:nvSpPr>
        <p:spPr>
          <a:xfrm>
            <a:off x="6569954" y="3544449"/>
            <a:ext cx="290512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 dirty="0">
                <a:latin typeface="Calibri"/>
                <a:ea typeface="ＭＳ Ｐゴシック"/>
                <a:cs typeface="Calibri"/>
              </a:rPr>
              <a:t>Structure of 2 discriminators[1]</a:t>
            </a:r>
            <a:endParaRPr lang="en-US" sz="1200" dirty="0">
              <a:cs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10CE20-B0C3-41B2-F5F6-C258BA322751}"/>
              </a:ext>
            </a:extLst>
          </p:cNvPr>
          <p:cNvSpPr txBox="1"/>
          <p:nvPr/>
        </p:nvSpPr>
        <p:spPr>
          <a:xfrm>
            <a:off x="6764699" y="6114808"/>
            <a:ext cx="290512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 dirty="0">
                <a:latin typeface="Calibri"/>
                <a:ea typeface="ＭＳ Ｐゴシック"/>
                <a:cs typeface="Calibri"/>
              </a:rPr>
              <a:t>Structure of 2 generators[1]</a:t>
            </a:r>
            <a:endParaRPr lang="en-US" sz="1200" dirty="0"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E30AB1-C4C5-2F92-E476-10F213127472}"/>
              </a:ext>
            </a:extLst>
          </p:cNvPr>
          <p:cNvSpPr txBox="1"/>
          <p:nvPr/>
        </p:nvSpPr>
        <p:spPr>
          <a:xfrm>
            <a:off x="-14638" y="3160433"/>
            <a:ext cx="601376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An </a:t>
            </a:r>
            <a:r>
              <a:rPr lang="en-US" sz="2000" b="1"/>
              <a:t>n-dimensional one-hot vector </a:t>
            </a:r>
            <a:r>
              <a:rPr lang="en-US" sz="2000"/>
              <a:t>is used to represent different regions, with SAR images considered a special region with grayscale representation.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The flowchart present on the right describes the architecture of the proposed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The model employs </a:t>
            </a:r>
            <a:r>
              <a:rPr lang="en-US" sz="2000" b="1"/>
              <a:t>adversarial loss</a:t>
            </a:r>
            <a:r>
              <a:rPr lang="en-US" sz="2000"/>
              <a:t>, </a:t>
            </a:r>
            <a:r>
              <a:rPr lang="en-US" sz="2000" b="1"/>
              <a:t>cycle-consistency loss</a:t>
            </a:r>
            <a:r>
              <a:rPr lang="en-US" sz="2000"/>
              <a:t>, and </a:t>
            </a:r>
            <a:r>
              <a:rPr lang="en-US" sz="2000" b="1"/>
              <a:t>multidomain classification loss </a:t>
            </a:r>
            <a:r>
              <a:rPr lang="en-US" sz="2000"/>
              <a:t>as loss functions</a:t>
            </a:r>
            <a:r>
              <a:rPr lang="en-US" sz="2000" b="1"/>
              <a:t> </a:t>
            </a:r>
            <a:r>
              <a:rPr lang="en-US" sz="2000"/>
              <a:t>to optimize both </a:t>
            </a:r>
            <a:r>
              <a:rPr lang="en-US" sz="2000" b="1"/>
              <a:t>color accuracy </a:t>
            </a:r>
            <a:r>
              <a:rPr lang="en-US" sz="2000"/>
              <a:t>and </a:t>
            </a:r>
            <a:r>
              <a:rPr lang="en-US" sz="2000" b="1"/>
              <a:t>regional classification</a:t>
            </a:r>
            <a:r>
              <a:rPr lang="en-US" sz="200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/>
          </a:p>
          <a:p>
            <a:endParaRPr lang="en-IN"/>
          </a:p>
        </p:txBody>
      </p:sp>
      <p:pic>
        <p:nvPicPr>
          <p:cNvPr id="9" name="Picture 8" descr="A diagram of a sequence of text&#10;&#10;Description automatically generated">
            <a:extLst>
              <a:ext uri="{FF2B5EF4-FFF2-40B4-BE49-F238E27FC236}">
                <a16:creationId xmlns:a16="http://schemas.microsoft.com/office/drawing/2014/main" id="{3E5B6490-E36A-B10F-D3D3-F0BF837DC3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0975" y="987553"/>
            <a:ext cx="1562250" cy="52306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-2020" y="1089805"/>
            <a:ext cx="9281391" cy="5620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IN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Technical Feasibility:</a:t>
            </a:r>
            <a:r>
              <a:rPr lang="en-IN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 </a:t>
            </a:r>
            <a:r>
              <a:rPr lang="en-IN" kern="100">
                <a:latin typeface="Aptos"/>
                <a:ea typeface="Aptos" panose="020B0004020202020204" pitchFamily="34" charset="0"/>
                <a:cs typeface="Times New Roman"/>
              </a:rPr>
              <a:t>It uses </a:t>
            </a:r>
            <a:r>
              <a:rPr lang="en-IN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established deep learning techniques (e.g., </a:t>
            </a:r>
            <a:r>
              <a:rPr lang="en-IN" kern="100" err="1">
                <a:effectLst/>
                <a:latin typeface="Aptos"/>
                <a:ea typeface="Aptos" panose="020B0004020202020204" pitchFamily="34" charset="0"/>
                <a:cs typeface="Times New Roman"/>
              </a:rPr>
              <a:t>CycleGAN</a:t>
            </a:r>
            <a:r>
              <a:rPr lang="en-IN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) with </a:t>
            </a:r>
            <a:r>
              <a:rPr lang="en-IN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significant enhancements</a:t>
            </a:r>
            <a:r>
              <a:rPr lang="en-IN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, making it </a:t>
            </a:r>
            <a:r>
              <a:rPr lang="en-IN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technically feasible </a:t>
            </a:r>
            <a:r>
              <a:rPr lang="en-IN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for SAR image colorization.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IN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Operational Feasibility:</a:t>
            </a:r>
            <a:r>
              <a:rPr lang="en-IN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 The </a:t>
            </a:r>
            <a:r>
              <a:rPr lang="en-IN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model's flexibility in handling unpaired data</a:t>
            </a:r>
            <a:r>
              <a:rPr lang="en-IN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 make it operationally feasible.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kern="100">
                <a:effectLst/>
                <a:latin typeface="Aptos"/>
                <a:ea typeface="Aptos" panose="020B0004020202020204" pitchFamily="34" charset="0"/>
                <a:cs typeface="Cordia New"/>
              </a:rPr>
              <a:t>Challenges &amp; Risks:</a:t>
            </a:r>
            <a:endParaRPr lang="en-IN" kern="100">
              <a:effectLst/>
              <a:latin typeface="Aptos"/>
              <a:ea typeface="Aptos" panose="020B0004020202020204" pitchFamily="34" charset="0"/>
              <a:cs typeface="Cordia New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IN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Data Acquisition:</a:t>
            </a:r>
            <a:r>
              <a:rPr lang="en-IN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 Ensuring access to </a:t>
            </a:r>
            <a:r>
              <a:rPr lang="en-IN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diverse and representative datasets </a:t>
            </a:r>
            <a:r>
              <a:rPr lang="en-IN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covering multiple regions can be </a:t>
            </a:r>
            <a:r>
              <a:rPr lang="en-IN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challenging</a:t>
            </a:r>
            <a:r>
              <a:rPr lang="en-IN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.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IN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Model Generalization:</a:t>
            </a:r>
            <a:r>
              <a:rPr lang="en-IN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 Preventing </a:t>
            </a:r>
            <a:r>
              <a:rPr lang="en-IN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overfitting </a:t>
            </a:r>
            <a:r>
              <a:rPr lang="en-IN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and ensuring that the model generalizes </a:t>
            </a:r>
            <a:r>
              <a:rPr lang="en-IN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well across different terrains and environmental conditions</a:t>
            </a:r>
            <a:r>
              <a:rPr lang="en-IN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Cordia New" panose="020B0304020202020204" pitchFamily="34" charset="-34"/>
              </a:rPr>
              <a:t>Strategies for Overcoming Challenges:</a:t>
            </a:r>
            <a:endParaRPr lang="en-IN" kern="100">
              <a:effectLst/>
              <a:latin typeface="Aptos" panose="020B0004020202020204" pitchFamily="34" charset="0"/>
              <a:ea typeface="Aptos" panose="020B0004020202020204" pitchFamily="34" charset="0"/>
              <a:cs typeface="Cordia New" panose="020B0304020202020204" pitchFamily="34" charset="-34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IN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Data Augmentation:</a:t>
            </a:r>
            <a:r>
              <a:rPr lang="en-IN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 Employ </a:t>
            </a:r>
            <a:r>
              <a:rPr lang="en-IN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synthetic data augmentation </a:t>
            </a:r>
            <a:r>
              <a:rPr lang="en-IN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techniques to expand the available dataset.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IN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Regularization Techniques:</a:t>
            </a:r>
            <a:r>
              <a:rPr lang="en-IN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 Implement </a:t>
            </a:r>
            <a:r>
              <a:rPr lang="en-IN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advanced regularization methods</a:t>
            </a:r>
            <a:r>
              <a:rPr lang="en-IN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 to improve the model’s ability to generalize from training data to unseen real-world data.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36522"/>
            <a:ext cx="142036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6Tensors</a:t>
            </a:r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18BDA7-E08B-1444-7CB1-33BE8ABDD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7350" y="2376996"/>
            <a:ext cx="2905125" cy="22819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D216B8-022F-40F6-F002-56C2897FA6D6}"/>
              </a:ext>
            </a:extLst>
          </p:cNvPr>
          <p:cNvSpPr txBox="1"/>
          <p:nvPr/>
        </p:nvSpPr>
        <p:spPr>
          <a:xfrm>
            <a:off x="9152125" y="4659522"/>
            <a:ext cx="2905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Approaches for colorization using loss functions</a:t>
            </a: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1308699"/>
            <a:ext cx="9385300" cy="5399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kern="100">
                <a:effectLst/>
                <a:latin typeface="Aptos"/>
                <a:ea typeface="Aptos" panose="020B0004020202020204" pitchFamily="34" charset="0"/>
                <a:cs typeface="Cordia New"/>
              </a:rPr>
              <a:t>Social Impact:</a:t>
            </a:r>
            <a:endParaRPr lang="en-IN" sz="2000" kern="100">
              <a:effectLst/>
              <a:latin typeface="Aptos"/>
              <a:ea typeface="Aptos" panose="020B0004020202020204" pitchFamily="34" charset="0"/>
              <a:cs typeface="Cordia New"/>
            </a:endParaRPr>
          </a:p>
          <a:p>
            <a:pPr marL="800100" marR="0" lvl="1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IN" sz="2000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Improved Accessibility:</a:t>
            </a:r>
            <a:r>
              <a:rPr lang="en-IN" sz="20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 The colorized SAR images make complex data easier to interpret, </a:t>
            </a:r>
            <a:r>
              <a:rPr lang="en-IN" sz="2000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especially for non-expert users involved in remote sensing applications.</a:t>
            </a:r>
            <a:endParaRPr lang="en-IN" sz="2000" kern="100">
              <a:effectLst/>
              <a:latin typeface="Aptos"/>
              <a:ea typeface="Aptos" panose="020B0004020202020204" pitchFamily="34" charset="0"/>
              <a:cs typeface="Times New Roman"/>
            </a:endParaRPr>
          </a:p>
          <a:p>
            <a:pPr marL="800100" marR="0" lvl="1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IN" sz="2000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Enhanced Decision-Making:</a:t>
            </a:r>
            <a:r>
              <a:rPr lang="en-IN" sz="20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  It supports better </a:t>
            </a:r>
            <a:r>
              <a:rPr lang="en-IN" sz="2000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decision-making </a:t>
            </a:r>
            <a:r>
              <a:rPr lang="en-IN" sz="20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in fields like </a:t>
            </a:r>
            <a:r>
              <a:rPr lang="en-IN" sz="2000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disaster management </a:t>
            </a:r>
            <a:r>
              <a:rPr lang="en-IN" sz="20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and </a:t>
            </a:r>
            <a:r>
              <a:rPr lang="en-IN" sz="2000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environmental monitoring</a:t>
            </a:r>
            <a:r>
              <a:rPr lang="en-IN" sz="20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kern="100">
                <a:effectLst/>
                <a:latin typeface="Aptos"/>
                <a:ea typeface="Aptos" panose="020B0004020202020204" pitchFamily="34" charset="0"/>
                <a:cs typeface="Cordia New"/>
              </a:rPr>
              <a:t>Economic Impact:</a:t>
            </a:r>
            <a:endParaRPr lang="en-IN" sz="2000" kern="100">
              <a:effectLst/>
              <a:latin typeface="Aptos"/>
              <a:ea typeface="Aptos" panose="020B0004020202020204" pitchFamily="34" charset="0"/>
              <a:cs typeface="Cordia New"/>
            </a:endParaRPr>
          </a:p>
          <a:p>
            <a:pPr marL="800100" marR="0" lvl="1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IN" sz="2000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Cost Efficiency:</a:t>
            </a:r>
            <a:r>
              <a:rPr lang="en-IN" sz="20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 </a:t>
            </a:r>
            <a:r>
              <a:rPr lang="en-IN" sz="2000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Reduces</a:t>
            </a:r>
            <a:r>
              <a:rPr lang="en-IN" sz="20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 the need for </a:t>
            </a:r>
            <a:r>
              <a:rPr lang="en-IN" sz="2000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manual interpretation</a:t>
            </a:r>
            <a:r>
              <a:rPr lang="en-IN" sz="20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 and analysis of SAR data, </a:t>
            </a:r>
            <a:r>
              <a:rPr lang="en-IN" sz="2000" kern="100">
                <a:latin typeface="Aptos"/>
                <a:ea typeface="Aptos" panose="020B0004020202020204" pitchFamily="34" charset="0"/>
                <a:cs typeface="Times New Roman"/>
              </a:rPr>
              <a:t>thus</a:t>
            </a:r>
            <a:r>
              <a:rPr lang="en-IN" sz="20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 </a:t>
            </a:r>
            <a:r>
              <a:rPr lang="en-IN" sz="2000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saving time</a:t>
            </a:r>
            <a:r>
              <a:rPr lang="en-IN" sz="20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kern="100">
                <a:effectLst/>
                <a:latin typeface="Aptos"/>
                <a:ea typeface="Aptos" panose="020B0004020202020204" pitchFamily="34" charset="0"/>
                <a:cs typeface="Cordia New"/>
              </a:rPr>
              <a:t>Environmental Impact:</a:t>
            </a:r>
            <a:endParaRPr lang="en-IN" sz="2000" kern="100">
              <a:effectLst/>
              <a:latin typeface="Aptos"/>
              <a:ea typeface="Aptos" panose="020B0004020202020204" pitchFamily="34" charset="0"/>
              <a:cs typeface="Cordia New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000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Environmental Monitoring:</a:t>
            </a:r>
            <a:r>
              <a:rPr lang="en-IN" sz="20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 </a:t>
            </a:r>
            <a:r>
              <a:rPr lang="en-IN" sz="2000" kern="100">
                <a:latin typeface="Aptos"/>
                <a:ea typeface="Aptos" panose="020B0004020202020204" pitchFamily="34" charset="0"/>
                <a:cs typeface="Times New Roman"/>
              </a:rPr>
              <a:t>It’s ability</a:t>
            </a:r>
            <a:r>
              <a:rPr lang="en-IN" sz="20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 to monitor environmental changes, land use can lead to more </a:t>
            </a:r>
            <a:r>
              <a:rPr lang="en-IN" sz="2000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informed conservation</a:t>
            </a:r>
            <a:r>
              <a:rPr lang="en-IN" sz="20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 and </a:t>
            </a:r>
            <a:r>
              <a:rPr lang="en-IN" sz="2000" b="1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resource management</a:t>
            </a:r>
            <a:r>
              <a:rPr lang="en-IN" sz="2000" kern="100">
                <a:effectLst/>
                <a:latin typeface="Aptos"/>
                <a:ea typeface="Aptos" panose="020B0004020202020204" pitchFamily="34" charset="0"/>
                <a:cs typeface="Times New Roman"/>
              </a:rPr>
              <a:t> efforts.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43813"/>
            <a:ext cx="144003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6Tensors</a:t>
            </a:r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2EDC2C1-10A8-629B-CA7B-69B404B4F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5825" y="1676969"/>
            <a:ext cx="2856175" cy="374767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796A607-6BCA-979E-E2C3-2C60AC0F5E87}"/>
              </a:ext>
            </a:extLst>
          </p:cNvPr>
          <p:cNvSpPr txBox="1"/>
          <p:nvPr/>
        </p:nvSpPr>
        <p:spPr>
          <a:xfrm>
            <a:off x="9400033" y="5544572"/>
            <a:ext cx="2650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-apple-system"/>
              </a:rPr>
              <a:t> </a:t>
            </a:r>
            <a:r>
              <a:rPr lang="en-US" sz="1200" b="0" i="0">
                <a:effectLst/>
                <a:highlight>
                  <a:srgbClr val="FFFFFF"/>
                </a:highlight>
                <a:latin typeface="-apple-system"/>
              </a:rPr>
              <a:t>Potential of colorized SAR data for crop‐type classification</a:t>
            </a: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042918" y="1785161"/>
            <a:ext cx="93853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G. Ji, Z. Wang, L. Zhou, Y. Xia, S. Zhong and S. Gong, "SAR Image Colorization Using Multidomain Cycle-Consistency Generative Adversarial Network," in IEEE Geoscience and Remote Sensing Letters, vol. 18, no. 2, pp. 296-300, Feb. 2021,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doi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: 10.1109/LGRS.2020.2969891.keywords: {Radar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polarimetry;Image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color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analysis;Optical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imaging;Generators;Synthetic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aperture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radar;Optical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losses;Training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data;Cycle-consistency;multidomain;multidomain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cycle-consistency generative adversarial network (MC-GAN);synthetic aperture radar (SAR) image colorization},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P. Wang and V. M. Patel, "Generating high quality visible images from SAR images using CNNs," 2018 IEEE Radar Conference (RadarConf18), Oklahoma City, OK, USA, 2018, pp. 0570-0575,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doi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: 10.1109/RADAR.2018.8378622. keywords: {Synthetic aperture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radar;Speckle;Training;Image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color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analysis;Gray-scale;Noise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measurement;Gallium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nitride;Synthetic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aperture radar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image;despeckling;colorization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},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2629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6Tensors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b1246a3-8bb6-4166-b857-508ecd87a12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C772146A50C24B92024350C9CB2B2E" ma:contentTypeVersion="9" ma:contentTypeDescription="Create a new document." ma:contentTypeScope="" ma:versionID="5504a28ac9be46599e70b93600a56081">
  <xsd:schema xmlns:xsd="http://www.w3.org/2001/XMLSchema" xmlns:xs="http://www.w3.org/2001/XMLSchema" xmlns:p="http://schemas.microsoft.com/office/2006/metadata/properties" xmlns:ns3="cb1246a3-8bb6-4166-b857-508ecd87a124" xmlns:ns4="b86fb1bd-bc77-4ef4-9b20-737bc8fe0702" targetNamespace="http://schemas.microsoft.com/office/2006/metadata/properties" ma:root="true" ma:fieldsID="e4382340d14eebc94117452782c023b5" ns3:_="" ns4:_="">
    <xsd:import namespace="cb1246a3-8bb6-4166-b857-508ecd87a124"/>
    <xsd:import namespace="b86fb1bd-bc77-4ef4-9b20-737bc8fe070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1246a3-8bb6-4166-b857-508ecd87a1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fb1bd-bc77-4ef4-9b20-737bc8fe070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27C9D0-8B45-4C57-940B-9B1E835AA5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DC9DE4A-EB10-479C-85AF-A5F6A66F6304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cb1246a3-8bb6-4166-b857-508ecd87a124"/>
    <ds:schemaRef ds:uri="http://purl.org/dc/dcmitype/"/>
    <ds:schemaRef ds:uri="b86fb1bd-bc77-4ef4-9b20-737bc8fe0702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51F754F-6B7A-4DFB-9096-F89E24DEBF2C}">
  <ds:schemaRefs>
    <ds:schemaRef ds:uri="b86fb1bd-bc77-4ef4-9b20-737bc8fe0702"/>
    <ds:schemaRef ds:uri="cb1246a3-8bb6-4166-b857-508ecd87a12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723</Words>
  <Application>Microsoft Office PowerPoint</Application>
  <PresentationFormat>Widescreen</PresentationFormat>
  <Paragraphs>80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ＭＳ Ｐゴシック</vt:lpstr>
      <vt:lpstr>-apple-system</vt:lpstr>
      <vt:lpstr>Aptos</vt:lpstr>
      <vt:lpstr>Arial</vt:lpstr>
      <vt:lpstr>Calibri</vt:lpstr>
      <vt:lpstr>Courier New</vt:lpstr>
      <vt:lpstr>Garamond</vt:lpstr>
      <vt:lpstr>Symbol</vt:lpstr>
      <vt:lpstr>Times New Roman</vt:lpstr>
      <vt:lpstr>TradeGothic</vt:lpstr>
      <vt:lpstr>Wingdings</vt:lpstr>
      <vt:lpstr>Office Theme</vt:lpstr>
      <vt:lpstr>SMART INDIA HACKATHON 2024</vt:lpstr>
      <vt:lpstr> SARChroma- Unveiling Insights through SAR Image Colorization</vt:lpstr>
      <vt:lpstr>TE         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Krishna N Acharya</cp:lastModifiedBy>
  <cp:revision>3</cp:revision>
  <dcterms:created xsi:type="dcterms:W3CDTF">2013-12-12T18:46:50Z</dcterms:created>
  <dcterms:modified xsi:type="dcterms:W3CDTF">2025-12-24T10:08:08Z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0x01010060C772146A50C24B92024350C9CB2B2E</vt:lpwstr>
  </property>
</Properties>
</file>